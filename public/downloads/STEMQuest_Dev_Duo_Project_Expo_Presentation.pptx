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F"/>
          </a:solidFill>
          <a:ln>
            <a:solidFill>
              <a:srgbClr val="F6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8160" y="-365760"/>
            <a:ext cx="4846320" cy="7589520"/>
          </a:xfrm>
          <a:prstGeom prst="roundRect">
            <a:avLst>
              <a:gd name="adj" fmla="val 12000"/>
            </a:avLst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64008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188720"/>
            <a:ext cx="91440" cy="91440"/>
          </a:xfrm>
          <a:prstGeom prst="ellipse">
            <a:avLst/>
          </a:prstGeom>
          <a:solidFill>
            <a:srgbClr val="D9D0FF"/>
          </a:solidFill>
          <a:ln>
            <a:solidFill>
              <a:srgbClr val="D9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2743200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5394960"/>
            <a:ext cx="100584" cy="100584"/>
          </a:xfrm>
          <a:prstGeom prst="ellipse">
            <a:avLst/>
          </a:prstGeom>
          <a:solidFill>
            <a:srgbClr val="D9D0FF"/>
          </a:solidFill>
          <a:ln>
            <a:solidFill>
              <a:srgbClr val="D9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943600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67512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ptos"/>
              </a:rPr>
              <a:t>STEMQUEST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64922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1D1B35"/>
                </a:solidFill>
                <a:latin typeface="Aptos"/>
              </a:rPr>
              <a:t>Making STEM learning
feel like an adventure.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58521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6F6B85"/>
                </a:solidFill>
                <a:latin typeface="Aptos"/>
              </a:rPr>
              <a:t>A gamified learning platform that combines interactive lessons, educational games, simulations and a secure-ready data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2084831" cy="292608"/>
          </a:xfrm>
          <a:prstGeom prst="roundRect">
            <a:avLst>
              <a:gd name="adj" fmla="val 12000"/>
            </a:avLst>
          </a:prstGeom>
          <a:solidFill>
            <a:srgbClr val="E5DEF9"/>
          </a:solidFill>
          <a:ln>
            <a:solidFill>
              <a:srgbClr val="E5D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730752"/>
            <a:ext cx="1975103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40307D"/>
                </a:solidFill>
                <a:latin typeface="Aptos"/>
              </a:rPr>
              <a:t>PROJECT EXPO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43984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6F6B85"/>
                </a:solidFill>
                <a:latin typeface="Aptos"/>
              </a:rPr>
              <a:t>Team Name: </a:t>
            </a:r>
            <a:r>
              <a:rPr sz="1500" b="1">
                <a:solidFill>
                  <a:srgbClr val="1D1B35"/>
                </a:solidFill>
                <a:latin typeface="Aptos"/>
              </a:rPr>
              <a:t>Dev Duo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55464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6F6B85"/>
                </a:solidFill>
                <a:latin typeface="Aptos"/>
              </a:rPr>
              <a:t>Team Members: </a:t>
            </a:r>
            <a:r>
              <a:rPr sz="1500" b="1">
                <a:solidFill>
                  <a:srgbClr val="1D1B35"/>
                </a:solidFill>
                <a:latin typeface="Aptos"/>
              </a:rPr>
              <a:t>Adrija Saha  •  Arasi Irini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79592"/>
            <a:ext cx="5120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M.Tech AI &amp; ML • Interactive STEM Learning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09728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96596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D9D0FF"/>
                </a:solidFill>
                <a:latin typeface="Aptos"/>
              </a:rPr>
              <a:t>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196596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D9D0FF"/>
                </a:solidFill>
                <a:latin typeface="Aptos"/>
              </a:rPr>
              <a:t>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196596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D9D0FF"/>
                </a:solidFill>
                <a:latin typeface="Aptos"/>
              </a:rPr>
              <a:t>GROW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834640"/>
            <a:ext cx="10058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990088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16 lessons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264408"/>
            <a:ext cx="822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interactive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834640"/>
            <a:ext cx="11430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99008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30 activities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264408"/>
            <a:ext cx="960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practice + play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73968" y="2834640"/>
            <a:ext cx="8229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65408" y="2990088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6 STEM worlds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65408" y="3264408"/>
            <a:ext cx="640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subjects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160520"/>
            <a:ext cx="28803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 browser-ready demo today.
A secure Supabase path for tomorrow.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80644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D9D0FF"/>
                </a:solidFill>
                <a:latin typeface="Aptos"/>
              </a:rPr>
              <a:t>Demo • Data •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Why STEMQuest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Learning works better when students actively try, receive feedback and see their progress.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93392"/>
            <a:ext cx="3401568" cy="2011680"/>
          </a:xfrm>
          <a:prstGeom prst="roundRect">
            <a:avLst>
              <a:gd name="adj" fmla="val 12000"/>
            </a:avLst>
          </a:prstGeom>
          <a:solidFill>
            <a:srgbClr val="FDF0F4"/>
          </a:solidFill>
          <a:ln>
            <a:solidFill>
              <a:srgbClr val="F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94B7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D1B35"/>
                </a:solidFill>
                <a:latin typeface="Aptos"/>
              </a:rPr>
              <a:t>Passive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36392"/>
            <a:ext cx="2834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6F6B85"/>
                </a:solidFill>
                <a:latin typeface="Aptos"/>
              </a:rPr>
              <a:t>Many STEM lessons feel abstract when learners only read or listen.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93392"/>
            <a:ext cx="3401568" cy="2011680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D6E2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D1B35"/>
                </a:solidFill>
                <a:latin typeface="Aptos"/>
              </a:rPr>
              <a:t>Low practice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36392"/>
            <a:ext cx="2834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6F6B85"/>
                </a:solidFill>
                <a:latin typeface="Aptos"/>
              </a:rPr>
              <a:t>Repeated worksheets may not provide an immediate sense of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93392"/>
            <a:ext cx="3401568" cy="201168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24028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38B7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5176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D1B35"/>
                </a:solidFill>
                <a:latin typeface="Aptos"/>
              </a:rPr>
              <a:t>Limited learning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136392"/>
            <a:ext cx="2834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6F6B85"/>
                </a:solidFill>
                <a:latin typeface="Aptos"/>
              </a:rPr>
              <a:t>Teachers need a clear and safe way to understand activity progress.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E56CF"/>
                </a:solidFill>
                <a:latin typeface="Aptos"/>
              </a:rPr>
              <a:t>Our response: turn a lesson into a short learning loop — explore → try → understand →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5358384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13832"/>
            <a:ext cx="1691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78815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Choose a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55595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5358384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5513832"/>
            <a:ext cx="1691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578815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Solve a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55595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0527" y="5358384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7" y="5513832"/>
            <a:ext cx="1691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Understand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7" y="578815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Read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55595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9447" y="5358384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7" y="5513832"/>
            <a:ext cx="1691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7" y="578815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Earn new mastery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STEMQuest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A learner-first platform designed to make STEM concepts interactive, visible and motivating.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874519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11679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6E56CF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86584"/>
            <a:ext cx="1920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lessons across levels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74519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2011679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38B76"/>
                </a:solidFill>
                <a:latin typeface="Aptos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2386584"/>
            <a:ext cx="1920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learning activities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874519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2011679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B96B28"/>
                </a:solidFill>
                <a:latin typeface="Apto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2386584"/>
            <a:ext cx="1920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STEM subject worlds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1874519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2011679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A94B75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386584"/>
            <a:ext cx="1920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science simulations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546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10128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short lessons • multiple activity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31546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310128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584448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robot maze • fraction games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25896" y="31546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3310128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BD6E27"/>
                </a:solidFill>
                <a:latin typeface="Aptos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7336" y="3584448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gravity • circuits •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50224" y="31546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8E9F2"/>
          </a:solidFill>
          <a:ln>
            <a:solidFill>
              <a:srgbClr val="F8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1664" y="3310128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94B75"/>
                </a:solidFill>
                <a:latin typeface="Aptos"/>
              </a:rPr>
              <a:t>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3584448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XP • streaks • achievements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19472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ptos"/>
              </a:rPr>
              <a:t>A simple promise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7608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1D1B35"/>
                </a:solidFill>
                <a:latin typeface="Aptos"/>
              </a:rPr>
              <a:t>“Every interaction should either teach, motivate, or help the learner reflect on progress.”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A dashboard that makes progress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Real screenshot from the working STEMQuest demo.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1792" y="1828800"/>
            <a:ext cx="7040880" cy="4279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01952"/>
            <a:ext cx="6894576" cy="3895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" y="5852159"/>
            <a:ext cx="674827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LIVE DEMO • learner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84248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D1B35"/>
                </a:solidFill>
                <a:latin typeface="Aptos"/>
              </a:rPr>
              <a:t>What the dashboard communicates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2551176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0632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29263E"/>
                </a:solidFill>
                <a:latin typeface="Aptos"/>
              </a:rPr>
              <a:t>Clear learner identity and navigation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3063240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80944"/>
            <a:ext cx="30632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29263E"/>
                </a:solidFill>
                <a:latin typeface="Aptos"/>
              </a:rPr>
              <a:t>XP, streak and daily mission cues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575304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93008"/>
            <a:ext cx="30632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29263E"/>
                </a:solidFill>
                <a:latin typeface="Aptos"/>
              </a:rPr>
              <a:t>Subject worlds and next learning action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4087368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05072"/>
            <a:ext cx="30632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29263E"/>
                </a:solidFill>
                <a:latin typeface="Aptos"/>
              </a:rPr>
              <a:t>Progress-oriented cards without overwhelming the learner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4937760"/>
            <a:ext cx="3429000" cy="77724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5138928"/>
            <a:ext cx="30175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Design principle: make the next learning step obvious.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LEARNING BY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Lessons, games, simulations and safe code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Different activity formats keep concepts active and memorable.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1792" y="1828800"/>
            <a:ext cx="5367528" cy="3493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01952"/>
            <a:ext cx="5221224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" y="5065776"/>
            <a:ext cx="50749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ROBOT RESCUE • sequencing + debugging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367528" cy="3493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901952"/>
            <a:ext cx="5221224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45936" y="5065776"/>
            <a:ext cx="50749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CIRCUIT LAB • ideal DC experiment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5669280"/>
            <a:ext cx="3364992" cy="521207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5769864"/>
            <a:ext cx="9144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D1B35"/>
                </a:solidFill>
                <a:latin typeface="Aptos"/>
              </a:rPr>
              <a:t>Games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7943" y="5769864"/>
            <a:ext cx="20299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F6B85"/>
                </a:solidFill>
                <a:latin typeface="Aptos"/>
              </a:rPr>
              <a:t>Fraction fuel +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5669280"/>
            <a:ext cx="3364992" cy="521207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5769864"/>
            <a:ext cx="9144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D1B35"/>
                </a:solidFill>
                <a:latin typeface="Aptos"/>
              </a:rPr>
              <a:t>Simulations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5769864"/>
            <a:ext cx="20299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F6B85"/>
                </a:solidFill>
                <a:latin typeface="Aptos"/>
              </a:rPr>
              <a:t>Gravity + circuits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93608" y="5669280"/>
            <a:ext cx="3364992" cy="521207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5769864"/>
            <a:ext cx="9144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D1B35"/>
                </a:solidFill>
                <a:latin typeface="Aptos"/>
              </a:rPr>
              <a:t>Safe 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769864"/>
            <a:ext cx="202996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F6B85"/>
                </a:solidFill>
                <a:latin typeface="Aptos"/>
              </a:rPr>
              <a:t>Restricted Python loops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One learning cycle, from curiosity to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Example: a learner completes a robot maze activity.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" y="2084831"/>
            <a:ext cx="320040" cy="320040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396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D1B35"/>
                </a:solidFill>
                <a:latin typeface="Aptos"/>
              </a:rPr>
              <a:t>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5808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Open a subject or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9923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880360" y="2084831"/>
            <a:ext cx="320040" cy="320040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396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606040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76148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D1B35"/>
                </a:solidFill>
                <a:latin typeface="Aptos"/>
              </a:rP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035808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Read a concise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99923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212079" y="2084831"/>
            <a:ext cx="320040" cy="320040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9" y="21396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606040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276148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D1B35"/>
                </a:solidFill>
                <a:latin typeface="Aptos"/>
              </a:rPr>
              <a:t>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3035808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Solve quiz / game /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9923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543799" y="2084831"/>
            <a:ext cx="320040" cy="320040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799" y="21396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59" y="2606040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799" y="276148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D1B35"/>
                </a:solidFill>
                <a:latin typeface="Aptos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3035808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Receive instant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99923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9875519" y="2084831"/>
            <a:ext cx="320040" cy="320040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19" y="21396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2606040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19" y="276148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D1B35"/>
                </a:solidFill>
                <a:latin typeface="Aptos"/>
              </a:rPr>
              <a:t>Grow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035808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New XP, progress and streak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22452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ptos"/>
              </a:rPr>
              <a:t>Behind the screen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1772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47731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LessonPlayer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" y="5047488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shows the activity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71800" y="461772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47731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engine.ts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5047488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validates demo answer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461772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>
            <a:solidFill>
              <a:srgbClr val="FD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59" y="47731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BD6E27"/>
                </a:solidFill>
                <a:latin typeface="Aptos"/>
              </a:rPr>
              <a:t>award()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59" y="5047488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updates XP + coins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461772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8E9F2"/>
          </a:solidFill>
          <a:ln>
            <a:solidFill>
              <a:srgbClr val="F8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79" y="47731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94B75"/>
                </a:solidFill>
                <a:latin typeface="Aptos"/>
              </a:rPr>
              <a:t>Insights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5047488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shows progress 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4846320"/>
            <a:ext cx="228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846320"/>
            <a:ext cx="228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846320"/>
            <a:ext cx="228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5715000"/>
            <a:ext cx="10607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F6B85"/>
                </a:solidFill>
                <a:latin typeface="Aptos"/>
              </a:rPr>
              <a:t>The browser demo gives immediate learning feedback. When a user is connected, the same action can be validated by protected Supabase database logic.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Two paths: ready-to-run demo and secure-ready connected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The project is intentionally honest about local demo storage versus server-backed records.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202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D1B35"/>
                </a:solidFill>
                <a:latin typeface="Aptos"/>
              </a:rPr>
              <a:t>Student / Teacher /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uses browser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9202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075688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Next.js + React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50008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components +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9202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075688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Learning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350008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answer + reward logic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2313432"/>
            <a:ext cx="411480" cy="0"/>
          </a:xfrm>
          <a:prstGeom prst="line">
            <a:avLst/>
          </a:prstGeom>
          <a:ln w="2286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2313432"/>
            <a:ext cx="411480" cy="0"/>
          </a:xfrm>
          <a:prstGeom prst="line">
            <a:avLst/>
          </a:prstGeom>
          <a:ln w="2286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063240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E56CF"/>
                </a:solidFill>
                <a:latin typeface="Aptos"/>
              </a:rPr>
              <a:t>DEMO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0156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557016"/>
            <a:ext cx="201167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localStorage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31336"/>
            <a:ext cx="2011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device-local progress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37960" y="2697480"/>
            <a:ext cx="0" cy="548640"/>
          </a:xfrm>
          <a:prstGeom prst="line">
            <a:avLst/>
          </a:prstGeom>
          <a:ln w="2286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33488" y="3063240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38B76"/>
                </a:solidFill>
                <a:latin typeface="Aptos"/>
              </a:rPr>
              <a:t>CONNECTED MODE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401568"/>
            <a:ext cx="1920240" cy="74980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3557016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Supabase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38313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Auth + safe calls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3401568"/>
            <a:ext cx="2103120" cy="74980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3557016"/>
            <a:ext cx="19202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PostgreSQL RPC + RLS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3831336"/>
            <a:ext cx="19202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server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3401568"/>
            <a:ext cx="2148840" cy="74980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3557016"/>
            <a:ext cx="1965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Public &amp; private schemas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831336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records + answer keys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37960" y="3776472"/>
            <a:ext cx="365760" cy="0"/>
          </a:xfrm>
          <a:prstGeom prst="line">
            <a:avLst/>
          </a:prstGeom>
          <a:ln w="22860">
            <a:solidFill>
              <a:srgbClr val="238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06840" y="3776472"/>
            <a:ext cx="365760" cy="0"/>
          </a:xfrm>
          <a:prstGeom prst="line">
            <a:avLst/>
          </a:prstGeom>
          <a:ln w="22860">
            <a:solidFill>
              <a:srgbClr val="238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03720" y="4892040"/>
            <a:ext cx="2103120" cy="713232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5047488"/>
            <a:ext cx="19202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BD6E27"/>
                </a:solidFill>
                <a:latin typeface="Aptos"/>
              </a:rPr>
              <a:t>Optional Edge Functions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5321807"/>
            <a:ext cx="19202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reminders • tutor • account actions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55279" y="4151376"/>
            <a:ext cx="0" cy="740664"/>
          </a:xfrm>
          <a:prstGeom prst="line">
            <a:avLst/>
          </a:prstGeom>
          <a:ln w="16510">
            <a:solidFill>
              <a:srgbClr val="BD6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1792" y="5897880"/>
            <a:ext cx="10936224" cy="365760"/>
          </a:xfrm>
          <a:prstGeom prst="roundRect">
            <a:avLst>
              <a:gd name="adj" fmla="val 12000"/>
            </a:avLst>
          </a:prstGeom>
          <a:solidFill>
            <a:srgbClr val="F0ECFF"/>
          </a:solidFill>
          <a:ln>
            <a:solidFill>
              <a:srgbClr val="F0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6007608"/>
            <a:ext cx="1046988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40307D"/>
                </a:solidFill>
                <a:latin typeface="Aptos"/>
              </a:rPr>
              <a:t>Security idea: the browser never holds private answer keys or server secrets. In connected mode, the database checks identity, permissions and rewards.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How the connected backend protects learning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The source includes production-oriented database design; live setup still needs verification.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74519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1984248"/>
            <a:ext cx="2880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9263E"/>
                </a:solidFill>
                <a:latin typeface="Aptos"/>
              </a:rPr>
              <a:t>learner settings +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84248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student / teacher / guardian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41448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FBFAFE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Learning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551176"/>
            <a:ext cx="2880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9263E"/>
                </a:solidFill>
                <a:latin typeface="Aptos"/>
              </a:rPr>
              <a:t>completed activity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51176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read only by authorised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08376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18104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XP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118104"/>
            <a:ext cx="2880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9263E"/>
                </a:solidFill>
                <a:latin typeface="Aptos"/>
              </a:rPr>
              <a:t>one reward per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unique database constraint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75303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FBFAFE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85031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Private answer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3685031"/>
            <a:ext cx="2880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9263E"/>
                </a:solidFill>
                <a:latin typeface="Aptos"/>
              </a:rPr>
              <a:t>correct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85031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not directly exposed to browser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42231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51959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Classes + memberships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4251959"/>
            <a:ext cx="2880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9263E"/>
                </a:solidFill>
                <a:latin typeface="Aptos"/>
              </a:rPr>
              <a:t>teacher / learner 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59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RLS + protected functions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09160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FBFAFE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18888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Custom lessons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4818888"/>
            <a:ext cx="2880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9263E"/>
                </a:solidFill>
                <a:latin typeface="Aptos"/>
              </a:rPr>
              <a:t>admin authored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18888"/>
            <a:ext cx="4663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validated publish/save RPC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7725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D1B35"/>
                </a:solidFill>
                <a:latin typeface="Aptos"/>
              </a:rPr>
              <a:t>Key security controls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833872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51576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29263E"/>
                </a:solidFill>
                <a:latin typeface="Aptos"/>
              </a:rPr>
              <a:t>RLS narrows which records a signed-in person can read.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126480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044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29263E"/>
                </a:solidFill>
                <a:latin typeface="Aptos"/>
              </a:rPr>
              <a:t>Database functions validate answers and calculate rewards.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6336792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29263E"/>
                </a:solidFill>
                <a:latin typeface="Aptos"/>
              </a:rPr>
              <a:t>Private schema keeps answer keys and service logs away from browser tables.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6711696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62940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29263E"/>
                </a:solidFill>
                <a:latin typeface="Aptos"/>
              </a:rPr>
              <a:t>Edge Functions are the place for secret-provider actions, not React code.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CORE FEATURE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What makes the learning experience feel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Built around small wins, meaningful feedback and a friendly space-adventure visual language.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6E56CF"/>
                </a:solidFill>
                <a:latin typeface="Aptos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4251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D1B35"/>
                </a:solidFill>
                <a:latin typeface="Aptos"/>
              </a:rPr>
              <a:t>Adaptive-feeling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Levels, subject filters, search and recommendations guide learners toward suitable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7568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38B76"/>
                </a:solidFill>
                <a:latin typeface="Aptos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103120"/>
            <a:ext cx="4251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D1B35"/>
                </a:solidFill>
                <a:latin typeface="Aptos"/>
              </a:rPr>
              <a:t>Immediate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487168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Correct/wrong responses include explanations, hints and a clear next attempt.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75887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BD6E27"/>
                </a:solidFill>
                <a:latin typeface="Apto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03320"/>
            <a:ext cx="4251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D1B35"/>
                </a:solidFill>
                <a:latin typeface="Aptos"/>
              </a:rPr>
              <a:t>Motivation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87368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XP, coins, streaks, daily missions, progress views and achievements reinforce consistency.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F8E9F2"/>
          </a:solidFill>
          <a:ln>
            <a:solidFill>
              <a:srgbClr val="F8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75887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A94B75"/>
                </a:solidFill>
                <a:latin typeface="Aptos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03320"/>
            <a:ext cx="4251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D1B35"/>
                </a:solidFill>
                <a:latin typeface="Aptos"/>
              </a:rPr>
              <a:t>Role surfaces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87368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Teacher, guardian and admin interfaces demonstrate an extensible learning ecosystem.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107442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05272"/>
            <a:ext cx="10287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6E56CF"/>
                </a:solidFill>
                <a:latin typeface="Aptos"/>
              </a:rPr>
              <a:t>Design choice: gamification supports learning progress — it does not replace learning content.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EXTENSIBLE LEARNING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Beyond the learner screen: teacher, guardian and content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The demo shows the workflow locally; real multi-user roles need Supabase configuration.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828800"/>
            <a:ext cx="62179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6071616" cy="3776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" y="5733288"/>
            <a:ext cx="59253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ADMIN STUDIO • create, edit, draft or publish a one-question 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92024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66544"/>
            <a:ext cx="1234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Teacher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048256"/>
            <a:ext cx="23042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Create a class, assign lessons and see authorised class progress.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97180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118104"/>
            <a:ext cx="1234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Guardian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099816"/>
            <a:ext cx="23042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A designed path for linked learner summaries.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4023360"/>
            <a:ext cx="4160520" cy="804672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169664"/>
            <a:ext cx="1234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Admin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151376"/>
            <a:ext cx="23042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F6B85"/>
                </a:solidFill>
                <a:latin typeface="Aptos"/>
              </a:rPr>
              <a:t>Content studio for controlled lesson authoring and publishing.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349240"/>
            <a:ext cx="3977639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Why it matters: a platform becomes more useful when learning data can support the learner, educator and administrator — with clear permissions.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WHY STEMQUEST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A thoughtful combination, not just a quiz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Its value comes from how learning interactions, motivation and data design work together.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510235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8483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12264"/>
            <a:ext cx="274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E56C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093976"/>
            <a:ext cx="3977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D1B35"/>
                </a:solidFill>
                <a:latin typeface="Aptos"/>
              </a:rPr>
              <a:t>A real demo from day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423160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No API key is needed to demonstrate the learning journey.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852928"/>
            <a:ext cx="384048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1">
                <a:solidFill>
                  <a:srgbClr val="6E56CF"/>
                </a:solidFill>
                <a:latin typeface="Aptos"/>
              </a:rPr>
              <a:t>Ready for expo / offline-style exploration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20240"/>
            <a:ext cx="510235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8483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2112264"/>
            <a:ext cx="274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E56C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093976"/>
            <a:ext cx="3977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D1B35"/>
                </a:solidFill>
                <a:latin typeface="Aptos"/>
              </a:rPr>
              <a:t>Learning-first gamification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423160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XP is tied to newly mastered activities, with explanations and no fake cloud claims.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852928"/>
            <a:ext cx="384048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1">
                <a:solidFill>
                  <a:srgbClr val="6E56CF"/>
                </a:solidFill>
                <a:latin typeface="Aptos"/>
              </a:rPr>
              <a:t>Motivation with academic purpose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520440"/>
            <a:ext cx="510235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68503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712464"/>
            <a:ext cx="274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E56C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694176"/>
            <a:ext cx="3977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D1B35"/>
                </a:solidFill>
                <a:latin typeface="Aptos"/>
              </a:rPr>
              <a:t>Security-aware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023360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Private answer keys, RLS and protected RPCs show a serious production direction.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453128"/>
            <a:ext cx="384048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1">
                <a:solidFill>
                  <a:srgbClr val="6E56CF"/>
                </a:solidFill>
                <a:latin typeface="Aptos"/>
              </a:rPr>
              <a:t>More than front-end mock screens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520440"/>
            <a:ext cx="510235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368503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3712464"/>
            <a:ext cx="274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E56C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694176"/>
            <a:ext cx="39776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D1B35"/>
                </a:solidFill>
                <a:latin typeface="Aptos"/>
              </a:rPr>
              <a:t>Multiple interaction styles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4023360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Games, simulations, quizzes and a safe coding exercise address different modes of engagement.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453128"/>
            <a:ext cx="384048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" b="1">
                <a:solidFill>
                  <a:srgbClr val="6E56CF"/>
                </a:solidFill>
                <a:latin typeface="Aptos"/>
              </a:rPr>
              <a:t>Not one repeated activity 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A modern stack chosen for clarity, interactivity and a path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Each layer has a focused responsibility.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10512"/>
            <a:ext cx="10817352" cy="612648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164592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E56CF"/>
                </a:solidFill>
                <a:latin typeface="Aptos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47672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Next.js • React •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65960"/>
            <a:ext cx="4983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Component-driven, responsive and typed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96896"/>
            <a:ext cx="10817352" cy="61264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64592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38B76"/>
                </a:solidFill>
                <a:latin typeface="Aptos"/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34056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Framer Motion • Lucide • custom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752344"/>
            <a:ext cx="4983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Friendly motion, icons and distinctive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612648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57016"/>
            <a:ext cx="164592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BD6E27"/>
                </a:solidFill>
                <a:latin typeface="Aptos"/>
              </a:rPr>
              <a:t>Learning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20440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engine.ts • typed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538728"/>
            <a:ext cx="4983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Deterministic rewards, safe maze/code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9664"/>
            <a:ext cx="10817352" cy="612648"/>
          </a:xfrm>
          <a:prstGeom prst="roundRect">
            <a:avLst>
              <a:gd name="adj" fmla="val 12000"/>
            </a:avLst>
          </a:prstGeom>
          <a:solidFill>
            <a:srgbClr val="F8E9F2"/>
          </a:solidFill>
          <a:ln>
            <a:solidFill>
              <a:srgbClr val="F8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64592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A94B75"/>
                </a:solidFill>
                <a:latin typeface="Aptos"/>
              </a:rPr>
              <a:t>Data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06824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Supabase • PostgreSQL • SQL 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325112"/>
            <a:ext cx="4983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Identity, persistence, protected answer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56048"/>
            <a:ext cx="10817352" cy="612648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solidFill>
              <a:srgbClr val="EE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9784"/>
            <a:ext cx="164592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4568A8"/>
                </a:solidFill>
                <a:latin typeface="Aptos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93208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D1B35"/>
                </a:solidFill>
                <a:latin typeface="Aptos"/>
              </a:rPr>
              <a:t>Vitest • PGlite • Playwright • ESLint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111496"/>
            <a:ext cx="4983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F6B85"/>
                </a:solidFill>
                <a:latin typeface="Aptos"/>
              </a:rPr>
              <a:t>Logic, database and user-journey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925312"/>
            <a:ext cx="10817352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044184"/>
            <a:ext cx="104241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30" b="0">
                <a:solidFill>
                  <a:srgbClr val="6F6B85"/>
                </a:solidFill>
                <a:latin typeface="Aptos"/>
              </a:rPr>
              <a:t>Deployment configuration: Vercel-ready static output is included; use your own account and environment settings for an actual production release.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QUALITY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What we tested — and what still needs live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Honest evaluation is part of professional engineering.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47088"/>
            <a:ext cx="24231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8424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6E56CF"/>
                </a:solidFill>
                <a:latin typeface="Apto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359152"/>
            <a:ext cx="21488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unit + database tests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847088"/>
            <a:ext cx="24231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98424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38B76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59152"/>
            <a:ext cx="21488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browser journeys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847088"/>
            <a:ext cx="24231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8424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4568A8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59152"/>
            <a:ext cx="21488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lint + typecheck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847088"/>
            <a:ext cx="24231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198424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BD6E27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359152"/>
            <a:ext cx="21488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F6B85"/>
                </a:solidFill>
                <a:latin typeface="Aptos"/>
              </a:rPr>
              <a:t>production build succeeded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27248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D1B35"/>
                </a:solidFill>
                <a:latin typeface="Aptos"/>
              </a:rPr>
              <a:t>What the checks cover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621024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38728"/>
            <a:ext cx="4983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XP cannot be collected twice for the same activity.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14215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4983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Maze, fraction games, circuit controls and content authoring flows work in browser tests.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407408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25112"/>
            <a:ext cx="4983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Database tests cover migrations, role checks, answer privacy and custom lesson permissions.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4800600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718304"/>
            <a:ext cx="4983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Accessibility scan checks serious/critical violations on the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127248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D1B35"/>
                </a:solidFill>
                <a:latin typeface="Aptos"/>
              </a:rPr>
              <a:t>What still needs external setup</a:t>
            </a:r>
          </a:p>
        </p:txBody>
      </p:sp>
      <p:sp>
        <p:nvSpPr>
          <p:cNvPr id="28" name="Oval 27"/>
          <p:cNvSpPr/>
          <p:nvPr/>
        </p:nvSpPr>
        <p:spPr>
          <a:xfrm>
            <a:off x="6419088" y="3621024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3538728"/>
            <a:ext cx="4434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Live Supabase Auth and cross-device persistence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4014215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931920"/>
            <a:ext cx="4434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Email provider credentials, sending domain and scheduled reminders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407408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325112"/>
            <a:ext cx="4434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Optional AI tutor key, consent process and moderation validation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419088" y="4800600"/>
            <a:ext cx="82296" cy="82296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4718304"/>
            <a:ext cx="4434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9263E"/>
                </a:solidFill>
                <a:latin typeface="Aptos"/>
              </a:rPr>
              <a:t>A real Vercel deployment in the team’s own account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32120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F0ECFF"/>
          </a:solidFill>
          <a:ln>
            <a:solidFill>
              <a:srgbClr val="F0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24144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40307D"/>
                </a:solidFill>
                <a:latin typeface="Aptos"/>
              </a:rPr>
              <a:t>Expo-ready claim: the demo and tested learning flows work. Production-service claims are intentionally marked as setup-dependent.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IMPACT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From a compelling demo to a scalable learning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The next phase turns the secure design into a verified live service.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solidFill>
              <a:srgbClr val="EE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75688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E56CF"/>
                </a:solidFill>
                <a:latin typeface="Aptos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interactive demo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9202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075688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8B76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50008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configure + verify Supabase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96128" y="19202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>
            <a:solidFill>
              <a:srgbClr val="FD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2075688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BD6E27"/>
                </a:solidFill>
                <a:latin typeface="Aptos"/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350008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pilot with learners / teachers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9202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F8E9F2"/>
          </a:solidFill>
          <a:ln>
            <a:solidFill>
              <a:srgbClr val="F8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2075688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94B75"/>
                </a:solidFill>
                <a:latin typeface="Aptos"/>
              </a:rPr>
              <a:t>Future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350008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6B85"/>
                </a:solidFill>
                <a:latin typeface="Aptos"/>
              </a:rPr>
              <a:t>curriculum + analytics +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194560"/>
            <a:ext cx="228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194560"/>
            <a:ext cx="228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2194560"/>
            <a:ext cx="228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7355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E56CF"/>
                </a:solidFill>
                <a:latin typeface="Aptos"/>
              </a:rPr>
              <a:t>Potential 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75887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904487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D1B35"/>
                </a:solidFill>
                <a:latin typeface="Aptos"/>
              </a:rPr>
              <a:t>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279392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6F6B85"/>
                </a:solidFill>
                <a:latin typeface="Aptos"/>
              </a:rPr>
              <a:t>short, interactive practice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675887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904487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D1B35"/>
                </a:solidFill>
                <a:latin typeface="Aptos"/>
              </a:rPr>
              <a:t>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4279392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6F6B85"/>
                </a:solidFill>
                <a:latin typeface="Aptos"/>
              </a:rPr>
              <a:t>feedback after every attempt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75887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904487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D1B35"/>
                </a:solidFill>
                <a:latin typeface="Aptos"/>
              </a:rPr>
              <a:t>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79392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6F6B85"/>
                </a:solidFill>
                <a:latin typeface="Aptos"/>
              </a:rPr>
              <a:t>progress for the learner and teacher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675887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5712" y="3904487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D1B35"/>
                </a:solidFill>
                <a:latin typeface="Aptos"/>
              </a:rPr>
              <a:t>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279392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6F6B85"/>
                </a:solidFill>
                <a:latin typeface="Aptos"/>
              </a:rPr>
              <a:t>secure-ready production path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" y="5285232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486400"/>
            <a:ext cx="10104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38B76"/>
                </a:solidFill>
                <a:latin typeface="Aptos"/>
              </a:rPr>
              <a:t>Future enhancements: richer adaptive pathways, broader curriculum, advanced teacher analytics, live deployment monitoring, full accessibility review and verified provider integrations.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E56CF"/>
                </a:solidFill>
                <a:latin typeface="Aptos"/>
              </a:rPr>
              <a:t>SUGGESTED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D1B35"/>
                </a:solidFill>
                <a:latin typeface="Aptos"/>
              </a:rPr>
              <a:t>A confident 3-minute walkthrough for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6F6B85"/>
                </a:solidFill>
                <a:latin typeface="Aptos"/>
              </a:rPr>
              <a:t>Lead with the learning experience, then explain the architecture behind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0972800" cy="0"/>
          </a:xfrm>
          <a:prstGeom prst="line">
            <a:avLst/>
          </a:prstGeom>
          <a:ln w="10160">
            <a:solidFill>
              <a:srgbClr val="DD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1929384"/>
            <a:ext cx="246888" cy="246888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256032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1B35"/>
                </a:solidFill>
                <a:latin typeface="Aptos"/>
              </a:rPr>
              <a:t>Open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83664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Show the learner’s starting point, progress and subject worlds.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04872"/>
            <a:ext cx="10149840" cy="0"/>
          </a:xfrm>
          <a:prstGeom prst="line">
            <a:avLst/>
          </a:prstGeom>
          <a:ln w="7620">
            <a:solidFill>
              <a:srgbClr val="E5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7240" y="2697480"/>
            <a:ext cx="246888" cy="246888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256032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42616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1B35"/>
                </a:solidFill>
                <a:latin typeface="Aptos"/>
              </a:rPr>
              <a:t>Play Robot Rescue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51760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Explain algorithms, sequence and debugging through a game.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172968"/>
            <a:ext cx="10149840" cy="0"/>
          </a:xfrm>
          <a:prstGeom prst="line">
            <a:avLst/>
          </a:prstGeom>
          <a:ln w="7620">
            <a:solidFill>
              <a:srgbClr val="E5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7240" y="3465576"/>
            <a:ext cx="246888" cy="246888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256032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10712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1B35"/>
                </a:solidFill>
                <a:latin typeface="Aptos"/>
              </a:rPr>
              <a:t>Open Circuit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19856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Change voltage/resistance and explain the interactive science model.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3941063"/>
            <a:ext cx="10149840" cy="0"/>
          </a:xfrm>
          <a:prstGeom prst="line">
            <a:avLst/>
          </a:prstGeom>
          <a:ln w="7620">
            <a:solidFill>
              <a:srgbClr val="E5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7240" y="4233672"/>
            <a:ext cx="246888" cy="246888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88536"/>
            <a:ext cx="256032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78807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1B35"/>
                </a:solidFill>
                <a:latin typeface="Aptos"/>
              </a:rPr>
              <a:t>Show progress / leaderboard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187952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Connect activity completion to XP, streaks and insights.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709159"/>
            <a:ext cx="10149840" cy="0"/>
          </a:xfrm>
          <a:prstGeom prst="line">
            <a:avLst/>
          </a:prstGeom>
          <a:ln w="7620">
            <a:solidFill>
              <a:srgbClr val="E5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77240" y="5001768"/>
            <a:ext cx="246888" cy="246888"/>
          </a:xfrm>
          <a:prstGeom prst="ellipse">
            <a:avLst/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56631"/>
            <a:ext cx="256032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946903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D1B35"/>
                </a:solidFill>
                <a:latin typeface="Aptos"/>
              </a:rPr>
              <a:t>Show architecture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956048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F6B85"/>
                </a:solidFill>
                <a:latin typeface="Aptos"/>
              </a:rPr>
              <a:t>Explain local demo mode and secure Supabase production path.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5477255"/>
            <a:ext cx="10149840" cy="0"/>
          </a:xfrm>
          <a:prstGeom prst="line">
            <a:avLst/>
          </a:prstGeom>
          <a:ln w="7620">
            <a:solidFill>
              <a:srgbClr val="E5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03920" y="5468112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FFF1E5"/>
          </a:solidFill>
          <a:ln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9368" y="5623560"/>
            <a:ext cx="22128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69" b="1">
                <a:solidFill>
                  <a:srgbClr val="BD6E27"/>
                </a:solidFill>
                <a:latin typeface="Aptos"/>
              </a:rPr>
              <a:t>Tip: keep the demo in local mode — no credential risk.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36576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F6B85"/>
                </a:solidFill>
                <a:latin typeface="Aptos"/>
              </a:rPr>
              <a:t>STEMQUEST • DEV DUO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01384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F6B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83879" y="-182880"/>
            <a:ext cx="4297680" cy="7132320"/>
          </a:xfrm>
          <a:prstGeom prst="roundRect">
            <a:avLst>
              <a:gd name="adj" fmla="val 12000"/>
            </a:avLst>
          </a:prstGeom>
          <a:solidFill>
            <a:srgbClr val="6E56CF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ptos"/>
              </a:rPr>
              <a:t>STEMQUEST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64008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D1B35"/>
                </a:solidFill>
                <a:latin typeface="Aptos"/>
              </a:rPr>
              <a:t>Learning should feel
active, visible and
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90672"/>
            <a:ext cx="5715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6F6B85"/>
                </a:solidFill>
                <a:latin typeface="Aptos"/>
              </a:rPr>
              <a:t>Dev Duo built STEMQuest as a working learning experience today — with a thoughtful technical foundation for tomorrow.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187952"/>
            <a:ext cx="1024128" cy="292608"/>
          </a:xfrm>
          <a:prstGeom prst="roundRect">
            <a:avLst>
              <a:gd name="adj" fmla="val 12000"/>
            </a:avLst>
          </a:prstGeom>
          <a:solidFill>
            <a:srgbClr val="E5DEF9"/>
          </a:solidFill>
          <a:ln>
            <a:solidFill>
              <a:srgbClr val="E5D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215384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40307D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791456"/>
            <a:ext cx="466344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6E56C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4023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F6B85"/>
                </a:solidFill>
                <a:latin typeface="Aptos"/>
              </a:rPr>
              <a:t>Adrija Saha  •  Arasi Irini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133856"/>
            <a:ext cx="26517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DEV
DUO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78892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1DAFF"/>
                </a:solidFill>
                <a:latin typeface="Aptos"/>
              </a:rPr>
              <a:t>Interactive STEM learning
for curious minds.</a:t>
            </a:r>
          </a:p>
        </p:txBody>
      </p:sp>
      <p:sp>
        <p:nvSpPr>
          <p:cNvPr id="12" name="Oval 11"/>
          <p:cNvSpPr/>
          <p:nvPr/>
        </p:nvSpPr>
        <p:spPr>
          <a:xfrm>
            <a:off x="8823960" y="434340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54312" y="5047488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25328" y="4114800"/>
            <a:ext cx="109728" cy="10972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0" y="5596128"/>
            <a:ext cx="82296" cy="822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6053328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E1DAFF"/>
                </a:solidFill>
                <a:latin typeface="Aptos"/>
              </a:rPr>
              <a:t>Explore  •  Try  •  Understand  •  Grow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STEMQuest — Dev Duo Project Expo Presentation</dc:title>
  <dc:subject>Interactive gamified STEM learning platform</dc:subject>
  <dc:creator>Dev Duo — Adrija Saha and Arasi Irini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